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960120"/>
            <a:ext cx="512064" cy="804672"/>
          </a:xfrm>
          <a:prstGeom prst="roundRect">
            <a:avLst/>
          </a:prstGeom>
          <a:solidFill>
            <a:srgbClr val="1C374E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06640" y="2039112"/>
            <a:ext cx="512064" cy="804672"/>
          </a:xfrm>
          <a:prstGeom prst="roundRect">
            <a:avLst/>
          </a:prstGeom>
          <a:solidFill>
            <a:srgbClr val="1C3B4E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06640" y="3118104"/>
            <a:ext cx="512064" cy="804672"/>
          </a:xfrm>
          <a:prstGeom prst="roundRect">
            <a:avLst/>
          </a:prstGeom>
          <a:solidFill>
            <a:srgbClr val="1C3F4E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06640" y="4197096"/>
            <a:ext cx="512064" cy="804672"/>
          </a:xfrm>
          <a:prstGeom prst="roundRect">
            <a:avLst/>
          </a:prstGeom>
          <a:solidFill>
            <a:srgbClr val="1C434E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19871" y="960120"/>
            <a:ext cx="512064" cy="804672"/>
          </a:xfrm>
          <a:prstGeom prst="roundRect">
            <a:avLst/>
          </a:prstGeom>
          <a:solidFill>
            <a:srgbClr val="1E3751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19871" y="2039112"/>
            <a:ext cx="512064" cy="804672"/>
          </a:xfrm>
          <a:prstGeom prst="roundRect">
            <a:avLst/>
          </a:prstGeom>
          <a:solidFill>
            <a:srgbClr val="1E3B51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19871" y="3118104"/>
            <a:ext cx="512064" cy="804672"/>
          </a:xfrm>
          <a:prstGeom prst="roundRect">
            <a:avLst/>
          </a:prstGeom>
          <a:solidFill>
            <a:srgbClr val="1E3F51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19871" y="4197096"/>
            <a:ext cx="512064" cy="804672"/>
          </a:xfrm>
          <a:prstGeom prst="roundRect">
            <a:avLst/>
          </a:prstGeom>
          <a:solidFill>
            <a:srgbClr val="1E4351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33104" y="960120"/>
            <a:ext cx="512064" cy="804672"/>
          </a:xfrm>
          <a:prstGeom prst="roundRect">
            <a:avLst/>
          </a:prstGeom>
          <a:solidFill>
            <a:srgbClr val="203754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33104" y="2039112"/>
            <a:ext cx="512064" cy="804672"/>
          </a:xfrm>
          <a:prstGeom prst="roundRect">
            <a:avLst/>
          </a:prstGeom>
          <a:solidFill>
            <a:srgbClr val="203B54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33104" y="3118104"/>
            <a:ext cx="512064" cy="804672"/>
          </a:xfrm>
          <a:prstGeom prst="roundRect">
            <a:avLst/>
          </a:prstGeom>
          <a:solidFill>
            <a:srgbClr val="203F54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33104" y="4197096"/>
            <a:ext cx="512064" cy="804672"/>
          </a:xfrm>
          <a:prstGeom prst="roundRect">
            <a:avLst/>
          </a:prstGeom>
          <a:solidFill>
            <a:srgbClr val="204354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46336" y="960120"/>
            <a:ext cx="512064" cy="804672"/>
          </a:xfrm>
          <a:prstGeom prst="roundRect">
            <a:avLst/>
          </a:prstGeom>
          <a:solidFill>
            <a:srgbClr val="223757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46336" y="2039112"/>
            <a:ext cx="512064" cy="804672"/>
          </a:xfrm>
          <a:prstGeom prst="roundRect">
            <a:avLst/>
          </a:prstGeom>
          <a:solidFill>
            <a:srgbClr val="223B57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46336" y="3118104"/>
            <a:ext cx="512064" cy="804672"/>
          </a:xfrm>
          <a:prstGeom prst="roundRect">
            <a:avLst/>
          </a:prstGeom>
          <a:solidFill>
            <a:srgbClr val="223F57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46336" y="4197096"/>
            <a:ext cx="512064" cy="804672"/>
          </a:xfrm>
          <a:prstGeom prst="roundRect">
            <a:avLst/>
          </a:prstGeom>
          <a:solidFill>
            <a:srgbClr val="224357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59567" y="960120"/>
            <a:ext cx="512064" cy="804672"/>
          </a:xfrm>
          <a:prstGeom prst="roundRect">
            <a:avLst/>
          </a:prstGeom>
          <a:solidFill>
            <a:srgbClr val="24375A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59567" y="2039112"/>
            <a:ext cx="512064" cy="804672"/>
          </a:xfrm>
          <a:prstGeom prst="roundRect">
            <a:avLst/>
          </a:prstGeom>
          <a:solidFill>
            <a:srgbClr val="243B5A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9567" y="3118104"/>
            <a:ext cx="512064" cy="804672"/>
          </a:xfrm>
          <a:prstGeom prst="roundRect">
            <a:avLst/>
          </a:prstGeom>
          <a:solidFill>
            <a:srgbClr val="243F5A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59567" y="4197096"/>
            <a:ext cx="512064" cy="804672"/>
          </a:xfrm>
          <a:prstGeom prst="roundRect">
            <a:avLst/>
          </a:prstGeom>
          <a:solidFill>
            <a:srgbClr val="24435A"/>
          </a:solidFill>
          <a:ln>
            <a:solidFill>
              <a:srgbClr val="395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79792" y="1051560"/>
            <a:ext cx="512064" cy="804672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06256" y="2130552"/>
            <a:ext cx="512064" cy="804672"/>
          </a:xfrm>
          <a:prstGeom prst="round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332720" y="3209544"/>
            <a:ext cx="512064" cy="804672"/>
          </a:xfrm>
          <a:prstGeom prst="round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19488" y="4288536"/>
            <a:ext cx="512064" cy="804672"/>
          </a:xfrm>
          <a:prstGeom prst="round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1143000"/>
            <a:ext cx="6217920" cy="14238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ts val="5280"/>
              </a:lnSpc>
            </a:pPr>
            <a:r>
              <a:rPr lang="hu-HU" sz="4000" b="1" dirty="0">
                <a:solidFill>
                  <a:srgbClr val="F8FAFC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Okos parkolóház-kezelő rendszer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6035040" cy="12464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58CADC"/>
                </a:solidFill>
                <a:latin typeface="Aptos"/>
              </a:defRPr>
            </a:pPr>
            <a:r>
              <a:rPr lang="hu-HU" sz="2400" dirty="0">
                <a:solidFill>
                  <a:srgbClr val="94A3B8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Rendszerspecifikáció és </a:t>
            </a:r>
            <a:r>
              <a:rPr lang="hu-HU" sz="2400" dirty="0" err="1">
                <a:solidFill>
                  <a:srgbClr val="94A3B8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architekturális</a:t>
            </a:r>
            <a:r>
              <a:rPr lang="hu-HU" sz="2400" dirty="0">
                <a:solidFill>
                  <a:srgbClr val="94A3B8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tervek</a:t>
            </a:r>
          </a:p>
          <a:p>
            <a:pPr>
              <a:spcAft>
                <a:spcPts val="600"/>
              </a:spcAft>
              <a:defRPr sz="2200" b="0">
                <a:solidFill>
                  <a:srgbClr val="58CADC"/>
                </a:solidFill>
                <a:latin typeface="Aptos"/>
              </a:defRPr>
            </a:pP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5760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Foglalás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ütközésvizsgálat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•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adatbázis-központú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üzleti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logika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5577840"/>
            <a:ext cx="1554480" cy="384048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617647"/>
            <a:ext cx="1463039" cy="2769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rPr dirty="0"/>
              <a:t>RENDSZERT</a:t>
            </a:r>
            <a:r>
              <a:rPr lang="hu-HU" dirty="0"/>
              <a:t>E</a:t>
            </a:r>
            <a:r>
              <a:rPr dirty="0"/>
              <a:t>RV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3860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rendszer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célja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Egy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webes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felület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amely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az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adatbázisra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támaszkodva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kezeli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parkolóhelyeket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és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foglalásokat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22860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54864" cy="201168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 err="1">
                <a:latin typeface="Aptos" panose="020B0004020202020204" pitchFamily="34" charset="0"/>
                <a:cs typeface="Times New Roman" panose="02020603050405020304" pitchFamily="18" charset="0"/>
              </a:rPr>
              <a:t>Ügyfél</a:t>
            </a:r>
            <a:endParaRPr sz="20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3090672" cy="123110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Szabad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helyet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keres</a:t>
            </a:r>
            <a:endParaRPr sz="16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Időintervallumra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foglal</a:t>
            </a:r>
            <a:endParaRPr sz="16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Megnézi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vagy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lemondja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saját</a:t>
            </a:r>
            <a:r>
              <a:rPr sz="16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Aptos" panose="020B0004020202020204" pitchFamily="34" charset="0"/>
                <a:cs typeface="Times New Roman" panose="02020603050405020304" pitchFamily="18" charset="0"/>
              </a:rPr>
              <a:t>foglalásait</a:t>
            </a:r>
            <a:endParaRPr sz="16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22860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65960"/>
            <a:ext cx="54864" cy="2011680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 err="1">
                <a:latin typeface="Aptos" panose="020B0004020202020204" pitchFamily="34" charset="0"/>
                <a:cs typeface="Times New Roman" panose="02020603050405020304" pitchFamily="18" charset="0"/>
              </a:rPr>
              <a:t>Üzemeltető</a:t>
            </a:r>
            <a:endParaRPr sz="20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3194306" cy="123110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Aktuális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foglaltságot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lát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Bevételi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kimutatásokat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néz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Kihasználtsági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statisztikákat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elemez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5008" y="1828800"/>
            <a:ext cx="3429000" cy="22860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1965960"/>
            <a:ext cx="54864" cy="2011680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99339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 err="1">
                <a:latin typeface="Aptos" panose="020B0004020202020204" pitchFamily="34" charset="0"/>
                <a:cs typeface="Times New Roman" panose="02020603050405020304" pitchFamily="18" charset="0"/>
              </a:rPr>
              <a:t>Központi</a:t>
            </a:r>
            <a:r>
              <a:rPr sz="20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Aptos" panose="020B0004020202020204" pitchFamily="34" charset="0"/>
                <a:cs typeface="Times New Roman" panose="02020603050405020304" pitchFamily="18" charset="0"/>
              </a:rPr>
              <a:t>elv</a:t>
            </a:r>
            <a:endParaRPr sz="20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6" y="2487168"/>
            <a:ext cx="3044952" cy="115416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Az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üzleti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szabályok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az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adatbázisban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élnek</a:t>
            </a:r>
            <a:endParaRPr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webes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réteg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ezeket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az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eljárásokat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hívja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meg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7899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5F8FC"/>
                </a:solidFill>
                <a:latin typeface="Aptos"/>
              </a:defRPr>
            </a:pP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Fókusz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konzisztens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foglalások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megbízható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tranzakciók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és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mérhető</a:t>
            </a:r>
            <a:r>
              <a:rPr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Aptos" panose="020B0004020202020204" pitchFamily="34" charset="0"/>
                <a:cs typeface="Times New Roman" panose="02020603050405020304" pitchFamily="18" charset="0"/>
              </a:rPr>
              <a:t>adatbázis-teljesítmény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4CA9B-58DF-42CB-D038-079C058D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49201B-1494-1B11-84D2-02B5B02D400E}"/>
              </a:ext>
            </a:extLst>
          </p:cNvPr>
          <p:cNvSpPr txBox="1"/>
          <p:nvPr/>
        </p:nvSpPr>
        <p:spPr>
          <a:xfrm>
            <a:off x="594360" y="320040"/>
            <a:ext cx="10972800" cy="53860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rPr lang="hu-HU" dirty="0"/>
              <a:t>Szereplők és jogosultságok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159D39-69AB-626F-10ED-6126729800C6}"/>
              </a:ext>
            </a:extLst>
          </p:cNvPr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A9903-94F0-B200-888D-A4008908038A}"/>
              </a:ext>
            </a:extLst>
          </p:cNvPr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lang="hu-HU" sz="1600" dirty="0"/>
              <a:t>Három fő nézet, eltérő feladatkörökkel.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C2CA4-EC3E-AE14-3D98-C11749626A7C}"/>
              </a:ext>
            </a:extLst>
          </p:cNvPr>
          <p:cNvSpPr txBox="1"/>
          <p:nvPr/>
        </p:nvSpPr>
        <p:spPr>
          <a:xfrm>
            <a:off x="11201400" y="6473952"/>
            <a:ext cx="41148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000" b="0">
                <a:solidFill>
                  <a:srgbClr val="AEBED0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EBED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hu-HU" sz="1000" b="0" i="0" u="none" strike="noStrike" kern="1200" cap="none" spc="0" normalizeH="0" baseline="0" noProof="0" dirty="0">
                <a:ln>
                  <a:noFill/>
                </a:ln>
                <a:solidFill>
                  <a:srgbClr val="AEBED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EBED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AD2CF2-315D-4913-2A33-1991837DE5EC}"/>
              </a:ext>
            </a:extLst>
          </p:cNvPr>
          <p:cNvSpPr/>
          <p:nvPr/>
        </p:nvSpPr>
        <p:spPr>
          <a:xfrm>
            <a:off x="685800" y="1828799"/>
            <a:ext cx="3474720" cy="3573637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33BE3-0998-C7EE-D780-898A3855CCF6}"/>
              </a:ext>
            </a:extLst>
          </p:cNvPr>
          <p:cNvSpPr/>
          <p:nvPr/>
        </p:nvSpPr>
        <p:spPr>
          <a:xfrm>
            <a:off x="685800" y="1965959"/>
            <a:ext cx="54864" cy="3235305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20ABF-E6FE-E138-21DB-721C96DE7A29}"/>
              </a:ext>
            </a:extLst>
          </p:cNvPr>
          <p:cNvSpPr txBox="1"/>
          <p:nvPr/>
        </p:nvSpPr>
        <p:spPr>
          <a:xfrm>
            <a:off x="886968" y="199339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1">
                <a:solidFill>
                  <a:srgbClr val="23BEAA"/>
                </a:solidFill>
                <a:latin typeface="Aptos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3BEAA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Ügyfél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3BEAA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8EC12-CD72-D583-2FA0-47E3F61F7184}"/>
              </a:ext>
            </a:extLst>
          </p:cNvPr>
          <p:cNvSpPr txBox="1"/>
          <p:nvPr/>
        </p:nvSpPr>
        <p:spPr>
          <a:xfrm>
            <a:off x="886968" y="2487168"/>
            <a:ext cx="3264408" cy="2369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Szabad parkolóhelyek keresése</a:t>
            </a:r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• Foglalás létrehozása és lemondása</a:t>
            </a:r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• Saját aktív és korábbi foglalások megtekintése</a:t>
            </a:r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endParaRPr lang="hu-HU" sz="1600" dirty="0"/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A hozzáférés a saját foglalásaira korlátozódik.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4E3D5C-F3E0-18AA-28E5-CC5186AC531B}"/>
              </a:ext>
            </a:extLst>
          </p:cNvPr>
          <p:cNvSpPr/>
          <p:nvPr/>
        </p:nvSpPr>
        <p:spPr>
          <a:xfrm>
            <a:off x="4370832" y="1828800"/>
            <a:ext cx="3474720" cy="3573636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A6495-CA95-6386-A776-69720C50DB60}"/>
              </a:ext>
            </a:extLst>
          </p:cNvPr>
          <p:cNvSpPr/>
          <p:nvPr/>
        </p:nvSpPr>
        <p:spPr>
          <a:xfrm>
            <a:off x="4370832" y="1965960"/>
            <a:ext cx="45719" cy="3235304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779A1A-1A05-57E3-0F57-3F2F9C37C56C}"/>
              </a:ext>
            </a:extLst>
          </p:cNvPr>
          <p:cNvSpPr txBox="1"/>
          <p:nvPr/>
        </p:nvSpPr>
        <p:spPr>
          <a:xfrm>
            <a:off x="4572000" y="199339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1">
                <a:solidFill>
                  <a:srgbClr val="58CADC"/>
                </a:solidFill>
                <a:latin typeface="Aptos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8CAD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Üzemeltető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58CADC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85BFC-427D-CCC4-EDEE-EDAA048877E9}"/>
              </a:ext>
            </a:extLst>
          </p:cNvPr>
          <p:cNvSpPr txBox="1"/>
          <p:nvPr/>
        </p:nvSpPr>
        <p:spPr>
          <a:xfrm>
            <a:off x="4572000" y="2487168"/>
            <a:ext cx="3194306" cy="21236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Aktuális foglaltság áttekintése</a:t>
            </a:r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• Bevételi kimutatások megtekintése</a:t>
            </a:r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/>
              <a:t>• Kihasználtsági statisztikák elemzése</a:t>
            </a:r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endParaRPr lang="hu-HU" sz="1600" dirty="0"/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lang="hu-HU" sz="1600" dirty="0" err="1"/>
              <a:t>Dashboard</a:t>
            </a:r>
            <a:r>
              <a:rPr lang="hu-HU" sz="1600" dirty="0"/>
              <a:t> jellegű kezelőfelület.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D4BF72-CCAC-AD27-5483-1276388FA07B}"/>
              </a:ext>
            </a:extLst>
          </p:cNvPr>
          <p:cNvSpPr/>
          <p:nvPr/>
        </p:nvSpPr>
        <p:spPr>
          <a:xfrm>
            <a:off x="8065008" y="1828800"/>
            <a:ext cx="3429000" cy="3573636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5AF405-DDE8-85CA-5A59-616275FA2679}"/>
              </a:ext>
            </a:extLst>
          </p:cNvPr>
          <p:cNvSpPr/>
          <p:nvPr/>
        </p:nvSpPr>
        <p:spPr>
          <a:xfrm>
            <a:off x="8065008" y="1965960"/>
            <a:ext cx="54864" cy="3235304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23C0E-705A-0F6E-1993-420DEC25C134}"/>
              </a:ext>
            </a:extLst>
          </p:cNvPr>
          <p:cNvSpPr txBox="1"/>
          <p:nvPr/>
        </p:nvSpPr>
        <p:spPr>
          <a:xfrm>
            <a:off x="8266176" y="199339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1">
                <a:solidFill>
                  <a:srgbClr val="FFB152"/>
                </a:solidFill>
                <a:latin typeface="Aptos"/>
              </a:defRPr>
            </a:pP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rgbClr val="FFB152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Menedzser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B152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2C752-DD5F-EF7C-A151-537FF6031459}"/>
              </a:ext>
            </a:extLst>
          </p:cNvPr>
          <p:cNvSpPr txBox="1"/>
          <p:nvPr/>
        </p:nvSpPr>
        <p:spPr>
          <a:xfrm>
            <a:off x="8266176" y="2487168"/>
            <a:ext cx="3172968" cy="180049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0">
                <a:solidFill>
                  <a:srgbClr val="F5F8FC"/>
                </a:solidFill>
                <a:latin typeface="Aptos"/>
              </a:defRPr>
            </a:pPr>
            <a:r>
              <a:rPr kumimoji="0" lang="hu-HU" sz="16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Fellelhető hibák kezelése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rgbClr val="F5F8FC"/>
                </a:solidFill>
                <a:latin typeface="Aptos"/>
              </a:defRPr>
            </a:pPr>
            <a:r>
              <a:rPr kumimoji="0" lang="hu-HU" sz="16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Az adatbázisban fellépett hibák elhárítása (emberi vagy szoftver eredetű)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>
                <a:solidFill>
                  <a:srgbClr val="F5F8FC"/>
                </a:solidFill>
                <a:latin typeface="Aptos"/>
              </a:defRPr>
            </a:pPr>
            <a:endParaRPr kumimoji="0" lang="hu-HU" sz="16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600" b="0">
                <a:solidFill>
                  <a:srgbClr val="F5F8FC"/>
                </a:solidFill>
                <a:latin typeface="Aptos"/>
              </a:defRPr>
            </a:pPr>
            <a:r>
              <a:rPr kumimoji="0" lang="hu-HU" sz="1600" b="0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Hozzáférés az adatbázishoz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5F8FC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6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rPr dirty="0" err="1"/>
              <a:t>Foglalási</a:t>
            </a:r>
            <a:r>
              <a:rPr dirty="0"/>
              <a:t> </a:t>
            </a:r>
            <a:r>
              <a:rPr dirty="0" err="1"/>
              <a:t>folyamat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kiválasztott</a:t>
            </a:r>
            <a:r>
              <a:rPr sz="1600" dirty="0"/>
              <a:t> </a:t>
            </a:r>
            <a:r>
              <a:rPr sz="1600" dirty="0" err="1"/>
              <a:t>helyet</a:t>
            </a:r>
            <a:r>
              <a:rPr sz="1600" dirty="0"/>
              <a:t> a </a:t>
            </a:r>
            <a:r>
              <a:rPr sz="1600" dirty="0" err="1"/>
              <a:t>rendszer</a:t>
            </a:r>
            <a:r>
              <a:rPr sz="1600" dirty="0"/>
              <a:t> a </a:t>
            </a:r>
            <a:r>
              <a:rPr sz="1600" dirty="0" err="1"/>
              <a:t>rögzítés</a:t>
            </a:r>
            <a:r>
              <a:rPr sz="1600" dirty="0"/>
              <a:t> </a:t>
            </a:r>
            <a:r>
              <a:rPr sz="1600" dirty="0" err="1"/>
              <a:t>pillanatában</a:t>
            </a:r>
            <a:r>
              <a:rPr sz="1600" dirty="0"/>
              <a:t> </a:t>
            </a:r>
            <a:r>
              <a:rPr sz="1600" dirty="0" err="1"/>
              <a:t>ismét</a:t>
            </a:r>
            <a:r>
              <a:rPr sz="1600" dirty="0"/>
              <a:t> </a:t>
            </a:r>
            <a:r>
              <a:rPr sz="1600" dirty="0" err="1"/>
              <a:t>ellenőrzi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1783080" cy="20574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377440"/>
            <a:ext cx="54864" cy="178308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404872"/>
            <a:ext cx="13990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 err="1"/>
              <a:t>Keresés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95528" y="2898648"/>
            <a:ext cx="1399032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Időintervallum</a:t>
            </a:r>
            <a:r>
              <a:rPr sz="1600" dirty="0"/>
              <a:t> </a:t>
            </a:r>
            <a:r>
              <a:rPr sz="1600" dirty="0" err="1"/>
              <a:t>megadása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1161288" y="1572768"/>
            <a:ext cx="566928" cy="384048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1586484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3246120"/>
            <a:ext cx="530352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2240280"/>
            <a:ext cx="1783080" cy="20574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07792" y="2377440"/>
            <a:ext cx="54864" cy="1783080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2404872"/>
            <a:ext cx="14904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 err="1"/>
              <a:t>Lekérdezés</a:t>
            </a:r>
            <a:endParaRPr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3108960" y="2898648"/>
            <a:ext cx="1399032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Szabad </a:t>
            </a:r>
            <a:r>
              <a:rPr sz="1600" dirty="0" err="1"/>
              <a:t>helyek</a:t>
            </a:r>
            <a:r>
              <a:rPr sz="1600" dirty="0"/>
              <a:t> </a:t>
            </a:r>
            <a:r>
              <a:rPr sz="1600" dirty="0" err="1"/>
              <a:t>listázása</a:t>
            </a:r>
            <a:endParaRPr sz="1600" dirty="0"/>
          </a:p>
        </p:txBody>
      </p:sp>
      <p:sp>
        <p:nvSpPr>
          <p:cNvPr id="17" name="Rounded Rectangle 16"/>
          <p:cNvSpPr/>
          <p:nvPr/>
        </p:nvSpPr>
        <p:spPr>
          <a:xfrm>
            <a:off x="3474720" y="1572768"/>
            <a:ext cx="566928" cy="384048"/>
          </a:xfrm>
          <a:prstGeom prst="round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1586484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90872" y="3246120"/>
            <a:ext cx="530352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21224" y="2240280"/>
            <a:ext cx="1783080" cy="20574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21224" y="2377440"/>
            <a:ext cx="54864" cy="1783080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22392" y="2404872"/>
            <a:ext cx="158191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 err="1"/>
              <a:t>Kiválasztás</a:t>
            </a:r>
            <a:endParaRPr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5422392" y="2898648"/>
            <a:ext cx="1399032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Ügyfél</a:t>
            </a:r>
            <a:r>
              <a:rPr sz="1600" dirty="0"/>
              <a:t> </a:t>
            </a:r>
            <a:r>
              <a:rPr sz="1600" dirty="0" err="1"/>
              <a:t>helyet</a:t>
            </a:r>
            <a:r>
              <a:rPr sz="1600" dirty="0"/>
              <a:t> </a:t>
            </a:r>
            <a:r>
              <a:rPr sz="1600" dirty="0" err="1"/>
              <a:t>választ</a:t>
            </a:r>
            <a:endParaRPr sz="1600" dirty="0"/>
          </a:p>
        </p:txBody>
      </p:sp>
      <p:sp>
        <p:nvSpPr>
          <p:cNvPr id="24" name="Rounded Rectangle 23"/>
          <p:cNvSpPr/>
          <p:nvPr/>
        </p:nvSpPr>
        <p:spPr>
          <a:xfrm>
            <a:off x="5788152" y="1572768"/>
            <a:ext cx="566928" cy="384048"/>
          </a:xfrm>
          <a:prstGeom prst="round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33872" y="1586484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04304" y="3246120"/>
            <a:ext cx="530352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34656" y="2240280"/>
            <a:ext cx="1783080" cy="20574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34656" y="2377440"/>
            <a:ext cx="54864" cy="178308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35824" y="2373867"/>
            <a:ext cx="1399032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7070"/>
                </a:solidFill>
                <a:latin typeface="Aptos"/>
              </a:defRPr>
            </a:pPr>
            <a:r>
              <a:rPr sz="2000" dirty="0" err="1"/>
              <a:t>Ütközés</a:t>
            </a:r>
            <a:r>
              <a:rPr lang="hu-HU" sz="2000" dirty="0"/>
              <a:t>-</a:t>
            </a:r>
            <a:r>
              <a:rPr sz="2000" dirty="0" err="1"/>
              <a:t>vizsgálat</a:t>
            </a:r>
            <a:endParaRPr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7717536" y="3033805"/>
            <a:ext cx="1399032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Tranzakciós</a:t>
            </a:r>
            <a:r>
              <a:rPr sz="1600" dirty="0"/>
              <a:t> </a:t>
            </a:r>
            <a:r>
              <a:rPr sz="1600" dirty="0" err="1"/>
              <a:t>újraellenőrzés</a:t>
            </a:r>
            <a:endParaRPr sz="1600" dirty="0"/>
          </a:p>
        </p:txBody>
      </p:sp>
      <p:sp>
        <p:nvSpPr>
          <p:cNvPr id="31" name="Rounded Rectangle 30"/>
          <p:cNvSpPr/>
          <p:nvPr/>
        </p:nvSpPr>
        <p:spPr>
          <a:xfrm>
            <a:off x="8101583" y="1572768"/>
            <a:ext cx="566928" cy="384048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47304" y="1586484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17736" y="3246120"/>
            <a:ext cx="530352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48088" y="2240280"/>
            <a:ext cx="1783080" cy="205740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48088" y="2377440"/>
            <a:ext cx="54864" cy="1783080"/>
          </a:xfrm>
          <a:prstGeom prst="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49256" y="2404872"/>
            <a:ext cx="13990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4DCA4"/>
                </a:solidFill>
                <a:latin typeface="Aptos"/>
              </a:defRPr>
            </a:pPr>
            <a:r>
              <a:rPr sz="2000" dirty="0" err="1"/>
              <a:t>Rögzítés</a:t>
            </a:r>
            <a:endParaRPr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10049256" y="2898648"/>
            <a:ext cx="1517904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Foglalás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díjszámítás</a:t>
            </a:r>
            <a:endParaRPr sz="1600" dirty="0"/>
          </a:p>
        </p:txBody>
      </p:sp>
      <p:sp>
        <p:nvSpPr>
          <p:cNvPr id="38" name="Rounded Rectangle 37"/>
          <p:cNvSpPr/>
          <p:nvPr/>
        </p:nvSpPr>
        <p:spPr>
          <a:xfrm>
            <a:off x="10415015" y="1572768"/>
            <a:ext cx="566928" cy="384048"/>
          </a:xfrm>
          <a:prstGeom prst="round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60736" y="1586484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058" y="4902071"/>
            <a:ext cx="11454579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B152"/>
                </a:solidFill>
                <a:latin typeface="Aptos"/>
              </a:defRPr>
            </a:pPr>
            <a:r>
              <a:rPr sz="2000" dirty="0"/>
              <a:t>Ha a </a:t>
            </a:r>
            <a:r>
              <a:rPr sz="2000" dirty="0" err="1"/>
              <a:t>helyet</a:t>
            </a:r>
            <a:r>
              <a:rPr sz="2000" dirty="0"/>
              <a:t> </a:t>
            </a:r>
            <a:r>
              <a:rPr sz="2000" dirty="0" err="1"/>
              <a:t>közben</a:t>
            </a:r>
            <a:r>
              <a:rPr sz="2000" dirty="0"/>
              <a:t> </a:t>
            </a:r>
            <a:r>
              <a:rPr sz="2000" dirty="0" err="1"/>
              <a:t>más</a:t>
            </a:r>
            <a:r>
              <a:rPr sz="2000" dirty="0"/>
              <a:t> </a:t>
            </a:r>
            <a:r>
              <a:rPr sz="2000" dirty="0" err="1"/>
              <a:t>lefoglalta</a:t>
            </a:r>
            <a:r>
              <a:rPr sz="2000" dirty="0"/>
              <a:t>: rollback, </a:t>
            </a:r>
            <a:r>
              <a:rPr sz="2000" dirty="0" err="1"/>
              <a:t>hibaüzenet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alternatív</a:t>
            </a:r>
            <a:r>
              <a:rPr sz="2000" dirty="0"/>
              <a:t> </a:t>
            </a:r>
            <a:r>
              <a:rPr sz="2000" dirty="0" err="1"/>
              <a:t>szabad</a:t>
            </a:r>
            <a:r>
              <a:rPr sz="2000" dirty="0"/>
              <a:t> </a:t>
            </a:r>
            <a:r>
              <a:rPr sz="2000" dirty="0" err="1"/>
              <a:t>helyek</a:t>
            </a:r>
            <a:r>
              <a:rPr sz="2000" dirty="0"/>
              <a:t> </a:t>
            </a:r>
            <a:r>
              <a:rPr sz="2000" dirty="0" err="1"/>
              <a:t>felajánlása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Rendszerarchitektúra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frontend nem </a:t>
            </a:r>
            <a:r>
              <a:rPr sz="1600" dirty="0" err="1"/>
              <a:t>tartalmazza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nem </a:t>
            </a:r>
            <a:r>
              <a:rPr sz="1600" dirty="0" err="1"/>
              <a:t>kerüli</a:t>
            </a:r>
            <a:r>
              <a:rPr sz="1600" dirty="0"/>
              <a:t> meg </a:t>
            </a:r>
            <a:r>
              <a:rPr sz="1600" dirty="0" err="1"/>
              <a:t>az</a:t>
            </a:r>
            <a:r>
              <a:rPr sz="1600" dirty="0"/>
              <a:t> </a:t>
            </a:r>
            <a:r>
              <a:rPr sz="1600" dirty="0" err="1"/>
              <a:t>üzleti</a:t>
            </a:r>
            <a:r>
              <a:rPr sz="1600" dirty="0"/>
              <a:t> </a:t>
            </a:r>
            <a:r>
              <a:rPr sz="1600" dirty="0" err="1"/>
              <a:t>szabályok</a:t>
            </a:r>
            <a:r>
              <a:rPr sz="1600" dirty="0"/>
              <a:t> </a:t>
            </a:r>
            <a:r>
              <a:rPr sz="1600" dirty="0" err="1"/>
              <a:t>érvényesítését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286000" cy="10515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011679"/>
            <a:ext cx="54864" cy="777239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039112"/>
            <a:ext cx="1901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 err="1"/>
              <a:t>Felhasználók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024128" y="2532887"/>
            <a:ext cx="190195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Ügyfél</a:t>
            </a:r>
            <a:r>
              <a:rPr sz="1600" dirty="0"/>
              <a:t> / </a:t>
            </a:r>
            <a:r>
              <a:rPr sz="1600" dirty="0" err="1"/>
              <a:t>Üzemeltető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286000" cy="10515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2011679"/>
            <a:ext cx="54864" cy="777239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039112"/>
            <a:ext cx="1901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/>
              <a:t>Frontend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721608" y="2532887"/>
            <a:ext cx="190195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Webes</a:t>
            </a:r>
            <a:r>
              <a:rPr dirty="0"/>
              <a:t> </a:t>
            </a:r>
            <a:r>
              <a:rPr sz="1600" dirty="0" err="1"/>
              <a:t>felület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286000" cy="10515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011679"/>
            <a:ext cx="54864" cy="777239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2039112"/>
            <a:ext cx="1901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/>
              <a:t>Backend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7"/>
            <a:ext cx="190195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Szolgáltatásréteg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8915400" y="1874519"/>
            <a:ext cx="2697480" cy="10515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400" y="2011679"/>
            <a:ext cx="54864" cy="777239"/>
          </a:xfrm>
          <a:prstGeom prst="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16568" y="2039112"/>
            <a:ext cx="238658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4DCA4"/>
                </a:solidFill>
                <a:latin typeface="Aptos"/>
              </a:defRPr>
            </a:pPr>
            <a:r>
              <a:rPr sz="2000" dirty="0" err="1"/>
              <a:t>Relációs</a:t>
            </a:r>
            <a:r>
              <a:rPr sz="2000" dirty="0"/>
              <a:t> </a:t>
            </a:r>
            <a:r>
              <a:rPr sz="2000" dirty="0" err="1"/>
              <a:t>adatbázis</a:t>
            </a:r>
            <a:endParaRPr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9116568" y="2532887"/>
            <a:ext cx="22524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Oracle / MS SQL Server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2395728"/>
            <a:ext cx="411480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06440" y="2395728"/>
            <a:ext cx="411480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20" y="2395728"/>
            <a:ext cx="411480" cy="0"/>
          </a:xfrm>
          <a:prstGeom prst="line">
            <a:avLst/>
          </a:prstGeom>
          <a:ln w="25400">
            <a:solidFill>
              <a:srgbClr val="AE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00" y="3794760"/>
            <a:ext cx="3840480" cy="141732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28800" y="3931920"/>
            <a:ext cx="54864" cy="114300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29968" y="3959352"/>
            <a:ext cx="34564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/>
              <a:t>Adatbázis-</a:t>
            </a:r>
            <a:r>
              <a:rPr sz="2000" dirty="0" err="1"/>
              <a:t>oldali</a:t>
            </a:r>
            <a:r>
              <a:rPr sz="2000" dirty="0"/>
              <a:t> </a:t>
            </a:r>
            <a:r>
              <a:rPr sz="2000" dirty="0" err="1"/>
              <a:t>logika</a:t>
            </a:r>
            <a:endParaRPr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2029968" y="4453128"/>
            <a:ext cx="3456432" cy="66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Tárolt</a:t>
            </a:r>
            <a:r>
              <a:rPr sz="1600" dirty="0"/>
              <a:t> </a:t>
            </a:r>
            <a:r>
              <a:rPr sz="1600" dirty="0" err="1"/>
              <a:t>eljárások</a:t>
            </a:r>
            <a:r>
              <a:rPr sz="1600" dirty="0"/>
              <a:t> • </a:t>
            </a:r>
            <a:r>
              <a:rPr sz="1600" dirty="0" err="1"/>
              <a:t>függvények</a:t>
            </a:r>
            <a:endParaRPr sz="1600" dirty="0"/>
          </a:p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Triggerek</a:t>
            </a:r>
            <a:r>
              <a:rPr sz="1600" dirty="0"/>
              <a:t> • </a:t>
            </a:r>
            <a:r>
              <a:rPr sz="1600" dirty="0" err="1"/>
              <a:t>megszorítások</a:t>
            </a:r>
            <a:endParaRPr sz="1600" dirty="0"/>
          </a:p>
        </p:txBody>
      </p:sp>
      <p:sp>
        <p:nvSpPr>
          <p:cNvPr id="29" name="Rounded Rectangle 28"/>
          <p:cNvSpPr/>
          <p:nvPr/>
        </p:nvSpPr>
        <p:spPr>
          <a:xfrm>
            <a:off x="6492240" y="3794760"/>
            <a:ext cx="3840480" cy="141732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3931920"/>
            <a:ext cx="54864" cy="1143000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93407" y="3959352"/>
            <a:ext cx="34564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 err="1"/>
              <a:t>Szolgáltatások</a:t>
            </a:r>
            <a:endParaRPr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6693407" y="4453128"/>
            <a:ext cx="3456432" cy="66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Foglalás</a:t>
            </a:r>
            <a:r>
              <a:rPr sz="1600" dirty="0"/>
              <a:t> • </a:t>
            </a:r>
            <a:r>
              <a:rPr sz="1600" dirty="0" err="1"/>
              <a:t>ütközésvizsgálat</a:t>
            </a:r>
            <a:endParaRPr sz="1600" dirty="0"/>
          </a:p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Be-/</a:t>
            </a:r>
            <a:r>
              <a:rPr sz="1600" dirty="0" err="1"/>
              <a:t>kihajtás</a:t>
            </a:r>
            <a:r>
              <a:rPr sz="1600" dirty="0"/>
              <a:t> • </a:t>
            </a:r>
            <a:r>
              <a:rPr sz="1600" dirty="0" err="1"/>
              <a:t>díjszámítás</a:t>
            </a:r>
            <a:endParaRPr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1828800" y="5623560"/>
            <a:ext cx="859536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AEBED0"/>
                </a:solidFill>
                <a:latin typeface="Aptos"/>
              </a:defRPr>
            </a:pPr>
            <a:r>
              <a:rPr dirty="0"/>
              <a:t>Legalább 3NF-es </a:t>
            </a:r>
            <a:r>
              <a:rPr dirty="0" err="1"/>
              <a:t>adatmodell</a:t>
            </a:r>
            <a:r>
              <a:rPr dirty="0"/>
              <a:t>, minimum 12 </a:t>
            </a:r>
            <a:r>
              <a:rPr dirty="0" err="1"/>
              <a:t>relációs</a:t>
            </a:r>
            <a:r>
              <a:rPr dirty="0"/>
              <a:t> </a:t>
            </a:r>
            <a:r>
              <a:rPr dirty="0" err="1"/>
              <a:t>táblával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rPr dirty="0"/>
              <a:t>Adatbázis-</a:t>
            </a:r>
            <a:r>
              <a:rPr dirty="0" err="1"/>
              <a:t>központú</a:t>
            </a:r>
            <a:r>
              <a:rPr dirty="0"/>
              <a:t> </a:t>
            </a:r>
            <a:r>
              <a:rPr dirty="0" err="1"/>
              <a:t>tervezés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projekt</a:t>
            </a:r>
            <a:r>
              <a:rPr sz="1600" dirty="0"/>
              <a:t> </a:t>
            </a:r>
            <a:r>
              <a:rPr sz="1600" dirty="0" err="1"/>
              <a:t>elsődleges</a:t>
            </a:r>
            <a:r>
              <a:rPr sz="1600" dirty="0"/>
              <a:t> </a:t>
            </a:r>
            <a:r>
              <a:rPr sz="1600" dirty="0" err="1"/>
              <a:t>szakmai</a:t>
            </a:r>
            <a:r>
              <a:rPr sz="1600" dirty="0"/>
              <a:t> </a:t>
            </a:r>
            <a:r>
              <a:rPr sz="1600" dirty="0" err="1"/>
              <a:t>fókusza</a:t>
            </a:r>
            <a:r>
              <a:rPr sz="1600" dirty="0"/>
              <a:t> </a:t>
            </a:r>
            <a:r>
              <a:rPr sz="1600" dirty="0" err="1"/>
              <a:t>az</a:t>
            </a:r>
            <a:r>
              <a:rPr sz="1600" dirty="0"/>
              <a:t> </a:t>
            </a:r>
            <a:r>
              <a:rPr sz="1600" dirty="0" err="1"/>
              <a:t>üzleti</a:t>
            </a:r>
            <a:r>
              <a:rPr sz="1600" dirty="0"/>
              <a:t> </a:t>
            </a:r>
            <a:r>
              <a:rPr sz="1600" dirty="0" err="1"/>
              <a:t>logika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az</a:t>
            </a:r>
            <a:r>
              <a:rPr sz="1600" dirty="0"/>
              <a:t> </a:t>
            </a:r>
            <a:r>
              <a:rPr sz="1600" dirty="0" err="1"/>
              <a:t>adatintegritás</a:t>
            </a:r>
            <a:r>
              <a:rPr sz="1600" dirty="0"/>
              <a:t>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9659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4864" cy="1691639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/>
              <a:t>3NF </a:t>
            </a:r>
            <a:r>
              <a:rPr sz="2000" dirty="0" err="1"/>
              <a:t>adatmodell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3044952" cy="66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Csökkenti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adatredundanciát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Segíti</a:t>
            </a:r>
            <a:r>
              <a:rPr dirty="0"/>
              <a:t> a </a:t>
            </a:r>
            <a:r>
              <a:rPr dirty="0" err="1"/>
              <a:t>konzisztens</a:t>
            </a:r>
            <a:r>
              <a:rPr dirty="0"/>
              <a:t> </a:t>
            </a:r>
            <a:r>
              <a:rPr dirty="0" err="1"/>
              <a:t>tárolást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9659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74519"/>
            <a:ext cx="54864" cy="1691639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 err="1"/>
              <a:t>Tárolt</a:t>
            </a:r>
            <a:r>
              <a:rPr sz="2000" dirty="0"/>
              <a:t> </a:t>
            </a:r>
            <a:r>
              <a:rPr sz="2000" dirty="0" err="1"/>
              <a:t>eljárások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3044952" cy="11978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Foglalás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díjszámítás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/>
              <a:t>Be-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kihajtási</a:t>
            </a:r>
            <a:r>
              <a:rPr dirty="0"/>
              <a:t> </a:t>
            </a:r>
            <a:r>
              <a:rPr dirty="0" err="1"/>
              <a:t>folyamatok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9659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74519"/>
            <a:ext cx="54864" cy="1691639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 err="1"/>
              <a:t>Megszorítások</a:t>
            </a:r>
            <a:r>
              <a:rPr sz="2000" dirty="0"/>
              <a:t>, </a:t>
            </a:r>
            <a:r>
              <a:rPr sz="2000" dirty="0" err="1"/>
              <a:t>triggerek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044952" cy="11978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Szabályok</a:t>
            </a:r>
            <a:r>
              <a:rPr dirty="0"/>
              <a:t> </a:t>
            </a:r>
            <a:r>
              <a:rPr dirty="0" err="1"/>
              <a:t>kikényszerítése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Érvénytelen</a:t>
            </a:r>
            <a:r>
              <a:rPr dirty="0"/>
              <a:t> </a:t>
            </a:r>
            <a:r>
              <a:rPr dirty="0" err="1"/>
              <a:t>állapotok</a:t>
            </a:r>
            <a:r>
              <a:rPr dirty="0"/>
              <a:t> </a:t>
            </a:r>
            <a:r>
              <a:rPr dirty="0" err="1"/>
              <a:t>tiltása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rPr dirty="0"/>
              <a:t>Adatbázis-</a:t>
            </a:r>
            <a:r>
              <a:rPr dirty="0" err="1"/>
              <a:t>választás</a:t>
            </a:r>
            <a:r>
              <a:rPr dirty="0"/>
              <a:t>: Oracle Database (PL/SQL) </a:t>
            </a:r>
            <a:r>
              <a:rPr dirty="0" err="1"/>
              <a:t>vagy</a:t>
            </a:r>
            <a:r>
              <a:rPr dirty="0"/>
              <a:t> Microsoft SQL Server (T-SQL).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92040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konkrét</a:t>
            </a:r>
            <a:r>
              <a:rPr sz="1600" dirty="0"/>
              <a:t> RDBMS </a:t>
            </a:r>
            <a:r>
              <a:rPr sz="1600" dirty="0" err="1"/>
              <a:t>kiválasztása</a:t>
            </a:r>
            <a:r>
              <a:rPr sz="1600" dirty="0"/>
              <a:t> </a:t>
            </a:r>
            <a:r>
              <a:rPr sz="1600" dirty="0" err="1"/>
              <a:t>nyitott</a:t>
            </a:r>
            <a:r>
              <a:rPr sz="1600" dirty="0"/>
              <a:t> </a:t>
            </a:r>
            <a:r>
              <a:rPr sz="1600" dirty="0" err="1"/>
              <a:t>döntés</a:t>
            </a:r>
            <a:r>
              <a:rPr sz="1600" dirty="0"/>
              <a:t>; a </a:t>
            </a:r>
            <a:r>
              <a:rPr sz="1600" dirty="0" err="1"/>
              <a:t>terv</a:t>
            </a:r>
            <a:r>
              <a:rPr sz="1600" dirty="0"/>
              <a:t> </a:t>
            </a:r>
            <a:r>
              <a:rPr sz="1600" dirty="0" err="1"/>
              <a:t>mindkét</a:t>
            </a:r>
            <a:r>
              <a:rPr sz="1600" dirty="0"/>
              <a:t> </a:t>
            </a:r>
            <a:r>
              <a:rPr sz="1600" dirty="0" err="1"/>
              <a:t>lehetőséggel</a:t>
            </a:r>
            <a:r>
              <a:rPr sz="1600" dirty="0"/>
              <a:t> </a:t>
            </a:r>
            <a:r>
              <a:rPr sz="1600" dirty="0" err="1"/>
              <a:t>számol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Ütközésvizsgálat és tranzakciókezelés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kettős</a:t>
            </a:r>
            <a:r>
              <a:rPr sz="1600" dirty="0"/>
              <a:t> </a:t>
            </a:r>
            <a:r>
              <a:rPr sz="1600" dirty="0" err="1"/>
              <a:t>foglalás</a:t>
            </a:r>
            <a:r>
              <a:rPr sz="1600" dirty="0"/>
              <a:t> </a:t>
            </a:r>
            <a:r>
              <a:rPr sz="1600" dirty="0" err="1"/>
              <a:t>megakadályozása</a:t>
            </a:r>
            <a:r>
              <a:rPr sz="1600" dirty="0"/>
              <a:t> </a:t>
            </a:r>
            <a:r>
              <a:rPr sz="1600" dirty="0" err="1"/>
              <a:t>kötelező</a:t>
            </a:r>
            <a:r>
              <a:rPr sz="1600" dirty="0"/>
              <a:t> </a:t>
            </a:r>
            <a:r>
              <a:rPr sz="1600" dirty="0" err="1"/>
              <a:t>követelmény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233172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2057400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 err="1"/>
              <a:t>Kiinduló</a:t>
            </a:r>
            <a:r>
              <a:rPr sz="2000" dirty="0"/>
              <a:t> </a:t>
            </a:r>
            <a:r>
              <a:rPr sz="2000" dirty="0" err="1"/>
              <a:t>helyzet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3044952" cy="1563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Két</a:t>
            </a:r>
            <a:r>
              <a:rPr dirty="0"/>
              <a:t> </a:t>
            </a:r>
            <a:r>
              <a:rPr dirty="0" err="1"/>
              <a:t>ügyfél</a:t>
            </a:r>
            <a:r>
              <a:rPr dirty="0"/>
              <a:t> </a:t>
            </a:r>
            <a:r>
              <a:rPr dirty="0" err="1"/>
              <a:t>közel</a:t>
            </a:r>
            <a:r>
              <a:rPr dirty="0"/>
              <a:t> </a:t>
            </a:r>
            <a:r>
              <a:rPr dirty="0" err="1"/>
              <a:t>egyszerre</a:t>
            </a:r>
            <a:r>
              <a:rPr dirty="0"/>
              <a:t> </a:t>
            </a:r>
            <a:r>
              <a:rPr dirty="0" err="1"/>
              <a:t>próbálja</a:t>
            </a:r>
            <a:r>
              <a:rPr dirty="0"/>
              <a:t> </a:t>
            </a:r>
            <a:r>
              <a:rPr dirty="0" err="1"/>
              <a:t>lefoglalni</a:t>
            </a:r>
            <a:r>
              <a:rPr dirty="0"/>
              <a:t> </a:t>
            </a:r>
            <a:r>
              <a:rPr dirty="0" err="1"/>
              <a:t>ugyanazt</a:t>
            </a:r>
            <a:r>
              <a:rPr dirty="0"/>
              <a:t> a </a:t>
            </a:r>
            <a:r>
              <a:rPr dirty="0" err="1"/>
              <a:t>helyet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időszakot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233172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54864" cy="2057400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/>
              <a:t>Adatbázis </a:t>
            </a:r>
            <a:r>
              <a:rPr sz="2000" dirty="0" err="1"/>
              <a:t>ellenőriz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2441448"/>
            <a:ext cx="3044952" cy="1563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Tranzakcióban</a:t>
            </a:r>
            <a:r>
              <a:rPr dirty="0"/>
              <a:t> </a:t>
            </a:r>
            <a:r>
              <a:rPr dirty="0" err="1"/>
              <a:t>újra</a:t>
            </a:r>
            <a:r>
              <a:rPr dirty="0"/>
              <a:t> </a:t>
            </a:r>
            <a:r>
              <a:rPr dirty="0" err="1"/>
              <a:t>ellenőrzi</a:t>
            </a:r>
            <a:r>
              <a:rPr dirty="0"/>
              <a:t> a </a:t>
            </a:r>
            <a:r>
              <a:rPr dirty="0" err="1"/>
              <a:t>hely</a:t>
            </a:r>
            <a:r>
              <a:rPr dirty="0"/>
              <a:t> </a:t>
            </a:r>
            <a:r>
              <a:rPr dirty="0" err="1"/>
              <a:t>elérhetőségét</a:t>
            </a:r>
            <a:r>
              <a:rPr dirty="0"/>
              <a:t>,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kezeli</a:t>
            </a:r>
            <a:r>
              <a:rPr dirty="0"/>
              <a:t> a </a:t>
            </a:r>
            <a:r>
              <a:rPr dirty="0" err="1"/>
              <a:t>konkurens</a:t>
            </a:r>
            <a:r>
              <a:rPr dirty="0"/>
              <a:t> </a:t>
            </a:r>
            <a:r>
              <a:rPr dirty="0" err="1"/>
              <a:t>kéréseket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429000" cy="233172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54864" cy="2057400"/>
          </a:xfrm>
          <a:prstGeom prst="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4DCA4"/>
                </a:solidFill>
                <a:latin typeface="Aptos"/>
              </a:defRPr>
            </a:pPr>
            <a:r>
              <a:rPr sz="2000" dirty="0" err="1"/>
              <a:t>Biztonságos</a:t>
            </a:r>
            <a:r>
              <a:rPr sz="2000" dirty="0"/>
              <a:t> </a:t>
            </a:r>
            <a:r>
              <a:rPr sz="2000" dirty="0" err="1"/>
              <a:t>eredmény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247888" y="2441448"/>
            <a:ext cx="3044952" cy="1563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Csak egy foglalás jöhet létre. A másik kérés rollbacket és hibaüzenetet kap.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 err="1"/>
              <a:t>Nyitott</a:t>
            </a:r>
            <a:r>
              <a:rPr dirty="0"/>
              <a:t> </a:t>
            </a:r>
            <a:r>
              <a:rPr dirty="0" err="1"/>
              <a:t>tervezési</a:t>
            </a:r>
            <a:r>
              <a:rPr dirty="0"/>
              <a:t> </a:t>
            </a:r>
            <a:r>
              <a:rPr dirty="0" err="1"/>
              <a:t>feladat</a:t>
            </a:r>
            <a:r>
              <a:rPr dirty="0"/>
              <a:t>: </a:t>
            </a:r>
            <a:r>
              <a:rPr dirty="0" err="1"/>
              <a:t>zárolási</a:t>
            </a:r>
            <a:r>
              <a:rPr dirty="0"/>
              <a:t>/</a:t>
            </a:r>
            <a:r>
              <a:rPr dirty="0" err="1"/>
              <a:t>tranzakciós</a:t>
            </a:r>
            <a:r>
              <a:rPr dirty="0"/>
              <a:t> </a:t>
            </a:r>
            <a:r>
              <a:rPr dirty="0" err="1"/>
              <a:t>megközelítések</a:t>
            </a:r>
            <a:r>
              <a:rPr dirty="0"/>
              <a:t> </a:t>
            </a:r>
            <a:r>
              <a:rPr dirty="0" err="1"/>
              <a:t>összehasonlítása</a:t>
            </a:r>
            <a:r>
              <a:rPr dirty="0"/>
              <a:t>, </a:t>
            </a:r>
            <a:r>
              <a:rPr dirty="0" err="1"/>
              <a:t>holtpontok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válaszidő</a:t>
            </a:r>
            <a:r>
              <a:rPr dirty="0"/>
              <a:t> </a:t>
            </a:r>
            <a:r>
              <a:rPr dirty="0" err="1"/>
              <a:t>vizsgálata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Funkcionális követelmények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t>A végtermék kötelező funkciói és lehetséges bővítése.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572768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4864" cy="1298448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/>
              <a:t>Szabad </a:t>
            </a:r>
            <a:r>
              <a:rPr sz="2000" dirty="0" err="1"/>
              <a:t>helyek</a:t>
            </a:r>
            <a:r>
              <a:rPr sz="2000" dirty="0"/>
              <a:t> </a:t>
            </a:r>
            <a:r>
              <a:rPr sz="2000" dirty="0" err="1"/>
              <a:t>keresése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86968" y="2244179"/>
            <a:ext cx="3090672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Pontos </a:t>
            </a:r>
            <a:r>
              <a:rPr sz="1600" dirty="0" err="1"/>
              <a:t>találatok</a:t>
            </a:r>
            <a:r>
              <a:rPr sz="1600" dirty="0"/>
              <a:t> </a:t>
            </a:r>
            <a:r>
              <a:rPr sz="1600" dirty="0" err="1"/>
              <a:t>adott</a:t>
            </a:r>
            <a:r>
              <a:rPr sz="1600" dirty="0"/>
              <a:t> </a:t>
            </a:r>
            <a:r>
              <a:rPr sz="1600" dirty="0" err="1"/>
              <a:t>időintervallumra</a:t>
            </a:r>
            <a:endParaRPr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850392" y="2862072"/>
            <a:ext cx="1143000" cy="384048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875788"/>
            <a:ext cx="10515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rPr dirty="0"/>
              <a:t>KÖTELEZŐ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91640"/>
            <a:ext cx="3474720" cy="1572768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54864" cy="1298448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85623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 err="1"/>
              <a:t>Foglalás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lemondás</a:t>
            </a:r>
            <a:endParaRPr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4681728" y="2350008"/>
            <a:ext cx="30906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Tranzakciós</a:t>
            </a:r>
            <a:r>
              <a:rPr sz="1600" dirty="0"/>
              <a:t> </a:t>
            </a:r>
            <a:r>
              <a:rPr sz="1600" dirty="0" err="1"/>
              <a:t>rögzítés</a:t>
            </a:r>
            <a:r>
              <a:rPr sz="1600" dirty="0"/>
              <a:t>/</a:t>
            </a:r>
            <a:r>
              <a:rPr sz="1600" dirty="0" err="1"/>
              <a:t>törlés</a:t>
            </a:r>
            <a:endParaRPr sz="1600" dirty="0"/>
          </a:p>
        </p:txBody>
      </p:sp>
      <p:sp>
        <p:nvSpPr>
          <p:cNvPr id="16" name="Rounded Rectangle 15"/>
          <p:cNvSpPr/>
          <p:nvPr/>
        </p:nvSpPr>
        <p:spPr>
          <a:xfrm>
            <a:off x="4645152" y="2862072"/>
            <a:ext cx="1143000" cy="384048"/>
          </a:xfrm>
          <a:prstGeom prst="round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90872" y="2875788"/>
            <a:ext cx="10515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KÖTELEZŐ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691640"/>
            <a:ext cx="3474720" cy="1572768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1828800"/>
            <a:ext cx="54864" cy="1298448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1856232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7070"/>
                </a:solidFill>
                <a:latin typeface="Aptos"/>
              </a:defRPr>
            </a:pPr>
            <a:r>
              <a:rPr sz="2000" dirty="0" err="1"/>
              <a:t>Kettős</a:t>
            </a:r>
            <a:r>
              <a:rPr sz="2000" dirty="0"/>
              <a:t> </a:t>
            </a:r>
            <a:r>
              <a:rPr sz="2000" dirty="0" err="1"/>
              <a:t>foglalás</a:t>
            </a:r>
            <a:r>
              <a:rPr sz="2000" dirty="0"/>
              <a:t> </a:t>
            </a:r>
            <a:r>
              <a:rPr sz="2000" dirty="0" err="1"/>
              <a:t>kizárása</a:t>
            </a:r>
            <a:endParaRPr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8476488" y="2350008"/>
            <a:ext cx="30906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Konkurens</a:t>
            </a:r>
            <a:r>
              <a:rPr sz="1600" dirty="0"/>
              <a:t> </a:t>
            </a:r>
            <a:r>
              <a:rPr sz="1600" dirty="0" err="1"/>
              <a:t>kérések</a:t>
            </a:r>
            <a:r>
              <a:rPr sz="1600" dirty="0"/>
              <a:t> </a:t>
            </a:r>
            <a:r>
              <a:rPr sz="1600" dirty="0" err="1"/>
              <a:t>kezelése</a:t>
            </a:r>
            <a:endParaRPr sz="1600" dirty="0"/>
          </a:p>
        </p:txBody>
      </p:sp>
      <p:sp>
        <p:nvSpPr>
          <p:cNvPr id="22" name="Rounded Rectangle 21"/>
          <p:cNvSpPr/>
          <p:nvPr/>
        </p:nvSpPr>
        <p:spPr>
          <a:xfrm>
            <a:off x="8439912" y="2862072"/>
            <a:ext cx="1143000" cy="384048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85632" y="2875788"/>
            <a:ext cx="10515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KÖTELEZŐ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3474720" cy="1572768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3794760"/>
            <a:ext cx="54864" cy="1298448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3822191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/>
              <a:t>Adatbázis </a:t>
            </a:r>
            <a:r>
              <a:rPr sz="2000" dirty="0" err="1"/>
              <a:t>üzleti</a:t>
            </a:r>
            <a:r>
              <a:rPr sz="2000" dirty="0"/>
              <a:t> </a:t>
            </a:r>
            <a:r>
              <a:rPr sz="2000" dirty="0" err="1"/>
              <a:t>logika</a:t>
            </a:r>
            <a:endParaRPr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886968" y="4315968"/>
            <a:ext cx="30906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Eljárások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megszorítások</a:t>
            </a:r>
            <a:endParaRPr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850392" y="4828032"/>
            <a:ext cx="1143000" cy="384048"/>
          </a:xfrm>
          <a:prstGeom prst="round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841748"/>
            <a:ext cx="10515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KÖTELEZŐ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657600"/>
            <a:ext cx="3474720" cy="1572768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60" y="3794760"/>
            <a:ext cx="54864" cy="1298448"/>
          </a:xfrm>
          <a:prstGeom prst="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1728" y="3822191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4DCA4"/>
                </a:solidFill>
                <a:latin typeface="Aptos"/>
              </a:defRPr>
            </a:pPr>
            <a:r>
              <a:rPr sz="2000" dirty="0" err="1"/>
              <a:t>Üzemeltetői</a:t>
            </a:r>
            <a:r>
              <a:rPr sz="2000" dirty="0"/>
              <a:t> </a:t>
            </a:r>
            <a:r>
              <a:rPr sz="2000" dirty="0" err="1"/>
              <a:t>statisztikák</a:t>
            </a:r>
            <a:endParaRPr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4681728" y="4315968"/>
            <a:ext cx="30906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Foglaltság</a:t>
            </a:r>
            <a:r>
              <a:rPr sz="1600" dirty="0"/>
              <a:t>, </a:t>
            </a:r>
            <a:r>
              <a:rPr sz="1600" dirty="0" err="1"/>
              <a:t>bevétel</a:t>
            </a:r>
            <a:r>
              <a:rPr sz="1600" dirty="0"/>
              <a:t>, </a:t>
            </a:r>
            <a:r>
              <a:rPr sz="1600" dirty="0" err="1"/>
              <a:t>kihasználtság</a:t>
            </a:r>
            <a:endParaRPr sz="1600" dirty="0"/>
          </a:p>
        </p:txBody>
      </p:sp>
      <p:sp>
        <p:nvSpPr>
          <p:cNvPr id="34" name="Rounded Rectangle 33"/>
          <p:cNvSpPr/>
          <p:nvPr/>
        </p:nvSpPr>
        <p:spPr>
          <a:xfrm>
            <a:off x="4645152" y="4828032"/>
            <a:ext cx="1143000" cy="384048"/>
          </a:xfrm>
          <a:prstGeom prst="round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4841748"/>
            <a:ext cx="10515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KÖTELEZŐ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657600"/>
            <a:ext cx="3474720" cy="1572768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5320" y="3794760"/>
            <a:ext cx="54864" cy="1298448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76488" y="3822191"/>
            <a:ext cx="309067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 err="1"/>
              <a:t>Tesztadat-generálás</a:t>
            </a:r>
            <a:endParaRPr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8476488" y="4315968"/>
            <a:ext cx="30906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Legalább 100 000 </a:t>
            </a:r>
            <a:r>
              <a:rPr sz="1600" dirty="0" err="1"/>
              <a:t>esemény</a:t>
            </a:r>
            <a:endParaRPr sz="1600" dirty="0"/>
          </a:p>
        </p:txBody>
      </p:sp>
      <p:sp>
        <p:nvSpPr>
          <p:cNvPr id="40" name="Rounded Rectangle 39"/>
          <p:cNvSpPr/>
          <p:nvPr/>
        </p:nvSpPr>
        <p:spPr>
          <a:xfrm>
            <a:off x="8439912" y="4828032"/>
            <a:ext cx="1143000" cy="384048"/>
          </a:xfrm>
          <a:prstGeom prst="round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85632" y="4841748"/>
            <a:ext cx="10515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KÖTELEZŐ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AEBED0"/>
                </a:solidFill>
                <a:latin typeface="Aptos"/>
              </a:defRPr>
            </a:pPr>
            <a:r>
              <a:t>Lehetséges bővítés: elektromosautó-töltőhelyek és töltési folyamatok kezelése.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Felhasználói felület és statisztikák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webes</a:t>
            </a:r>
            <a:r>
              <a:rPr sz="1600" dirty="0"/>
              <a:t> </a:t>
            </a:r>
            <a:r>
              <a:rPr sz="1600" dirty="0" err="1"/>
              <a:t>felület</a:t>
            </a:r>
            <a:r>
              <a:rPr sz="1600" dirty="0"/>
              <a:t> </a:t>
            </a:r>
            <a:r>
              <a:rPr sz="1600" dirty="0" err="1"/>
              <a:t>két</a:t>
            </a:r>
            <a:r>
              <a:rPr sz="1600" dirty="0"/>
              <a:t>, </a:t>
            </a:r>
            <a:r>
              <a:rPr sz="1600" dirty="0" err="1"/>
              <a:t>célhoz</a:t>
            </a:r>
            <a:r>
              <a:rPr sz="1600" dirty="0"/>
              <a:t> </a:t>
            </a:r>
            <a:r>
              <a:rPr sz="1600" dirty="0" err="1"/>
              <a:t>igazított</a:t>
            </a:r>
            <a:r>
              <a:rPr sz="1600" dirty="0"/>
              <a:t> </a:t>
            </a:r>
            <a:r>
              <a:rPr sz="1600" dirty="0" err="1"/>
              <a:t>nézetet</a:t>
            </a:r>
            <a:r>
              <a:rPr sz="1600" dirty="0"/>
              <a:t> </a:t>
            </a:r>
            <a:r>
              <a:rPr sz="1600" dirty="0" err="1"/>
              <a:t>biztosít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356616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4864" cy="329184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78231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 err="1"/>
              <a:t>Ügyfél</a:t>
            </a:r>
            <a:r>
              <a:rPr sz="2000" dirty="0"/>
              <a:t> </a:t>
            </a:r>
            <a:r>
              <a:rPr sz="2000" dirty="0" err="1"/>
              <a:t>nézet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782312" cy="1708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Időintervallum</a:t>
            </a:r>
            <a:r>
              <a:rPr dirty="0"/>
              <a:t> </a:t>
            </a:r>
            <a:r>
              <a:rPr dirty="0" err="1"/>
              <a:t>megadása</a:t>
            </a:r>
            <a:endParaRPr dirty="0"/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dirty="0"/>
              <a:t>• Szabad </a:t>
            </a:r>
            <a:r>
              <a:rPr dirty="0" err="1"/>
              <a:t>helyek</a:t>
            </a:r>
            <a:r>
              <a:rPr dirty="0"/>
              <a:t> </a:t>
            </a:r>
            <a:r>
              <a:rPr dirty="0" err="1"/>
              <a:t>megjelenítése</a:t>
            </a:r>
            <a:endParaRPr dirty="0"/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Foglalás</a:t>
            </a:r>
            <a:r>
              <a:rPr dirty="0"/>
              <a:t> </a:t>
            </a:r>
            <a:r>
              <a:rPr dirty="0" err="1"/>
              <a:t>indítása</a:t>
            </a:r>
            <a:endParaRPr dirty="0"/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Aktív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múltbéli</a:t>
            </a:r>
            <a:r>
              <a:rPr dirty="0"/>
              <a:t> </a:t>
            </a:r>
            <a:r>
              <a:rPr dirty="0" err="1"/>
              <a:t>foglalások</a:t>
            </a:r>
            <a:endParaRPr dirty="0"/>
          </a:p>
          <a:p>
            <a:pPr>
              <a:spcAft>
                <a:spcPts val="6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Lemondás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074920" cy="3566160"/>
          </a:xfrm>
          <a:prstGeom prst="roundRect">
            <a:avLst/>
          </a:prstGeom>
          <a:solidFill>
            <a:srgbClr val="18273F"/>
          </a:solidFill>
          <a:ln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4805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58CADC"/>
                </a:solidFill>
                <a:latin typeface="Aptos"/>
              </a:defRPr>
            </a:pPr>
            <a:r>
              <a:rPr sz="2000" dirty="0" err="1"/>
              <a:t>Üzemeltetői</a:t>
            </a:r>
            <a:r>
              <a:rPr sz="2000" dirty="0"/>
              <a:t> dashboard – </a:t>
            </a:r>
            <a:r>
              <a:rPr sz="2000" dirty="0" err="1"/>
              <a:t>szemléltető</a:t>
            </a:r>
            <a:endParaRPr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6537960" y="2487168"/>
            <a:ext cx="1389888" cy="91440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2578608"/>
            <a:ext cx="1243584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23BEAA"/>
                </a:solidFill>
                <a:latin typeface="Aptos"/>
              </a:defRPr>
            </a:pPr>
            <a:r>
              <a:rPr sz="1100" dirty="0"/>
              <a:t>FOGLALTSÁG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880360"/>
            <a:ext cx="1243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5F8FC"/>
                </a:solidFill>
                <a:latin typeface="Aptos"/>
              </a:defRPr>
            </a:pPr>
            <a:r>
              <a:rPr dirty="0"/>
              <a:t>78%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87168"/>
            <a:ext cx="1389888" cy="91440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2578608"/>
            <a:ext cx="1243584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FFB152"/>
                </a:solidFill>
                <a:latin typeface="Aptos"/>
              </a:defRPr>
            </a:pPr>
            <a:r>
              <a:rPr sz="1100" dirty="0"/>
              <a:t>NAPI BEVÉTEL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880360"/>
            <a:ext cx="124358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5F8FC"/>
                </a:solidFill>
                <a:latin typeface="Aptos"/>
              </a:defRPr>
            </a:pPr>
            <a:r>
              <a:rPr lang="hu-HU" dirty="0"/>
              <a:t>1852 €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646920" y="2487168"/>
            <a:ext cx="1389888" cy="91440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20072" y="2578608"/>
            <a:ext cx="1243584" cy="2539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800" b="1">
                <a:solidFill>
                  <a:srgbClr val="58CADC"/>
                </a:solidFill>
                <a:latin typeface="Aptos"/>
              </a:defRPr>
            </a:pPr>
            <a:r>
              <a:rPr sz="1050" dirty="0"/>
              <a:t>KIHASZNÁLTSÁG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2880360"/>
            <a:ext cx="1243584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5F8FC"/>
                </a:solidFill>
                <a:latin typeface="Aptos"/>
              </a:defRPr>
            </a:pPr>
            <a:r>
              <a:rPr lang="hu-HU" dirty="0"/>
              <a:t>65%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720840" y="3977639"/>
            <a:ext cx="292608" cy="59436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7768" y="3611880"/>
            <a:ext cx="292608" cy="960120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54696" y="3840480"/>
            <a:ext cx="292608" cy="73152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21624" y="3490556"/>
            <a:ext cx="292608" cy="1081444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8552" y="3703320"/>
            <a:ext cx="292608" cy="86868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55480" y="3870364"/>
            <a:ext cx="292608" cy="701635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22408" y="3520440"/>
            <a:ext cx="292608" cy="105156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1148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rPr sz="1100" dirty="0" err="1"/>
              <a:t>Időszakos</a:t>
            </a:r>
            <a:r>
              <a:rPr sz="1100" dirty="0"/>
              <a:t> </a:t>
            </a:r>
            <a:r>
              <a:rPr sz="1100" dirty="0" err="1"/>
              <a:t>kihasználtság</a:t>
            </a:r>
            <a:r>
              <a:rPr sz="1100" dirty="0"/>
              <a:t> (</a:t>
            </a:r>
            <a:r>
              <a:rPr sz="1100" dirty="0" err="1"/>
              <a:t>illusztráció</a:t>
            </a:r>
            <a:r>
              <a:rPr sz="1100" dirty="0"/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102412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/>
              <a:t>Az </a:t>
            </a:r>
            <a:r>
              <a:rPr dirty="0" err="1"/>
              <a:t>üzemeltetői</a:t>
            </a:r>
            <a:r>
              <a:rPr dirty="0"/>
              <a:t> </a:t>
            </a:r>
            <a:r>
              <a:rPr dirty="0" err="1"/>
              <a:t>mutatókat</a:t>
            </a:r>
            <a:r>
              <a:rPr dirty="0"/>
              <a:t> </a:t>
            </a:r>
            <a:r>
              <a:rPr dirty="0" err="1"/>
              <a:t>összetett</a:t>
            </a:r>
            <a:r>
              <a:rPr dirty="0"/>
              <a:t> SQL-</a:t>
            </a:r>
            <a:r>
              <a:rPr dirty="0" err="1"/>
              <a:t>lekérdezések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aggregációk</a:t>
            </a:r>
            <a:r>
              <a:rPr dirty="0"/>
              <a:t> </a:t>
            </a:r>
            <a:r>
              <a:rPr dirty="0" err="1"/>
              <a:t>állítják</a:t>
            </a:r>
            <a:r>
              <a:rPr dirty="0"/>
              <a:t> </a:t>
            </a:r>
            <a:r>
              <a:rPr dirty="0" err="1"/>
              <a:t>elő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Nem funkcionális követelmények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Nem </a:t>
            </a:r>
            <a:r>
              <a:rPr sz="1600" dirty="0" err="1"/>
              <a:t>elég</a:t>
            </a:r>
            <a:r>
              <a:rPr sz="1600" dirty="0"/>
              <a:t>, </a:t>
            </a:r>
            <a:r>
              <a:rPr sz="1600" dirty="0" err="1"/>
              <a:t>hogy</a:t>
            </a:r>
            <a:r>
              <a:rPr sz="1600" dirty="0"/>
              <a:t> </a:t>
            </a:r>
            <a:r>
              <a:rPr sz="1600" dirty="0" err="1"/>
              <a:t>működik</a:t>
            </a:r>
            <a:r>
              <a:rPr sz="1600" dirty="0"/>
              <a:t>: </a:t>
            </a:r>
            <a:r>
              <a:rPr sz="1600" dirty="0" err="1"/>
              <a:t>terhelés</a:t>
            </a:r>
            <a:r>
              <a:rPr sz="1600" dirty="0"/>
              <a:t> </a:t>
            </a:r>
            <a:r>
              <a:rPr sz="1600" dirty="0" err="1"/>
              <a:t>alatt</a:t>
            </a:r>
            <a:r>
              <a:rPr sz="1600" dirty="0"/>
              <a:t> is </a:t>
            </a:r>
            <a:r>
              <a:rPr sz="1600" dirty="0" err="1"/>
              <a:t>helyesnek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</a:t>
            </a:r>
            <a:r>
              <a:rPr sz="1600" dirty="0" err="1"/>
              <a:t>mérhetően</a:t>
            </a:r>
            <a:r>
              <a:rPr sz="1600" dirty="0"/>
              <a:t> </a:t>
            </a:r>
            <a:r>
              <a:rPr sz="1600" dirty="0" err="1"/>
              <a:t>gyorsnak</a:t>
            </a:r>
            <a:r>
              <a:rPr sz="1600" dirty="0"/>
              <a:t> </a:t>
            </a:r>
            <a:r>
              <a:rPr sz="1600" dirty="0" err="1"/>
              <a:t>kell</a:t>
            </a:r>
            <a:r>
              <a:rPr sz="1600" dirty="0"/>
              <a:t> </a:t>
            </a:r>
            <a:r>
              <a:rPr sz="1600" dirty="0" err="1"/>
              <a:t>maradnia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83280" cy="237744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54864" cy="2103120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47672"/>
            <a:ext cx="29992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BEAA"/>
                </a:solidFill>
                <a:latin typeface="Aptos"/>
              </a:defRPr>
            </a:pPr>
            <a:r>
              <a:rPr sz="2000" dirty="0" err="1"/>
              <a:t>Párhuzamosság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78408" y="2441448"/>
            <a:ext cx="2999232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Stresszteszt</a:t>
            </a:r>
            <a:r>
              <a:rPr dirty="0"/>
              <a:t> </a:t>
            </a:r>
            <a:r>
              <a:rPr dirty="0" err="1"/>
              <a:t>egyidejű</a:t>
            </a:r>
            <a:r>
              <a:rPr dirty="0"/>
              <a:t> </a:t>
            </a:r>
            <a:r>
              <a:rPr dirty="0" err="1"/>
              <a:t>tranzakciókkal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Izolációs</a:t>
            </a:r>
            <a:r>
              <a:rPr dirty="0"/>
              <a:t> </a:t>
            </a:r>
            <a:r>
              <a:rPr dirty="0" err="1"/>
              <a:t>szintek</a:t>
            </a:r>
            <a:r>
              <a:rPr dirty="0"/>
              <a:t> </a:t>
            </a:r>
            <a:r>
              <a:rPr dirty="0" err="1"/>
              <a:t>ellenőrzése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237744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54864" cy="2103120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947672"/>
            <a:ext cx="29992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 err="1"/>
              <a:t>Lekérdezési</a:t>
            </a:r>
            <a:r>
              <a:rPr sz="2000" dirty="0"/>
              <a:t> </a:t>
            </a:r>
            <a:r>
              <a:rPr sz="2000" dirty="0" err="1"/>
              <a:t>teljesítmény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0288" y="2441448"/>
            <a:ext cx="2999232" cy="16093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/>
              <a:t>Legalább 5 </a:t>
            </a:r>
            <a:r>
              <a:rPr dirty="0" err="1"/>
              <a:t>összetett</a:t>
            </a:r>
            <a:r>
              <a:rPr dirty="0"/>
              <a:t> </a:t>
            </a:r>
            <a:r>
              <a:rPr dirty="0" err="1"/>
              <a:t>lekérdezés</a:t>
            </a:r>
            <a:r>
              <a:rPr dirty="0"/>
              <a:t> </a:t>
            </a:r>
            <a:r>
              <a:rPr dirty="0" err="1"/>
              <a:t>mérése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Végrehajtási</a:t>
            </a:r>
            <a:r>
              <a:rPr dirty="0"/>
              <a:t> </a:t>
            </a:r>
            <a:r>
              <a:rPr dirty="0" err="1"/>
              <a:t>tervek</a:t>
            </a:r>
            <a:r>
              <a:rPr dirty="0"/>
              <a:t> </a:t>
            </a:r>
            <a:r>
              <a:rPr dirty="0" err="1"/>
              <a:t>összehasonlítása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383280" cy="237744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920240"/>
            <a:ext cx="54864" cy="2103120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29992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 err="1"/>
              <a:t>Integritás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2999232" cy="16093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Érvénytelen adatok beszúrásának tesztelése</a:t>
            </a: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Adatbázis-szintű védelem igazolása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t>Mérőeszközök: EXPLAIN PLAN (Oracle), illetve Actual Execution Plan (SQL Server).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Nyitott kérdések és kockázatok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tervezés</a:t>
            </a:r>
            <a:r>
              <a:rPr sz="1600" dirty="0"/>
              <a:t> korai </a:t>
            </a:r>
            <a:r>
              <a:rPr sz="1600" dirty="0" err="1"/>
              <a:t>szakaszában</a:t>
            </a:r>
            <a:r>
              <a:rPr sz="1600" dirty="0"/>
              <a:t> </a:t>
            </a:r>
            <a:r>
              <a:rPr sz="1600" dirty="0" err="1"/>
              <a:t>meghozandó</a:t>
            </a:r>
            <a:r>
              <a:rPr sz="1600" dirty="0"/>
              <a:t> </a:t>
            </a:r>
            <a:r>
              <a:rPr sz="1600" dirty="0" err="1"/>
              <a:t>döntések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315468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" cy="2880360"/>
          </a:xfrm>
          <a:prstGeom prst="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22783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B152"/>
                </a:solidFill>
                <a:latin typeface="Aptos"/>
              </a:defRPr>
            </a:pPr>
            <a:r>
              <a:rPr sz="2000" dirty="0"/>
              <a:t>01  Adatbázis </a:t>
            </a:r>
            <a:r>
              <a:rPr sz="2000" dirty="0" err="1"/>
              <a:t>kiválasztása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3044952" cy="1477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/>
              <a:t>Oracle </a:t>
            </a:r>
            <a:r>
              <a:rPr dirty="0" err="1"/>
              <a:t>vagy</a:t>
            </a:r>
            <a:r>
              <a:rPr dirty="0"/>
              <a:t> MS SQL Server?</a:t>
            </a:r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 err="1"/>
              <a:t>Hatás</a:t>
            </a:r>
            <a:r>
              <a:rPr dirty="0"/>
              <a:t>: SQL-</a:t>
            </a:r>
            <a:r>
              <a:rPr dirty="0" err="1"/>
              <a:t>dialektus</a:t>
            </a:r>
            <a:r>
              <a:rPr dirty="0"/>
              <a:t>, </a:t>
            </a:r>
            <a:r>
              <a:rPr dirty="0" err="1"/>
              <a:t>fejlesztői</a:t>
            </a:r>
            <a:r>
              <a:rPr dirty="0"/>
              <a:t> </a:t>
            </a:r>
            <a:r>
              <a:rPr dirty="0" err="1"/>
              <a:t>környezet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teljesítménymérő</a:t>
            </a:r>
            <a:r>
              <a:rPr dirty="0"/>
              <a:t> </a:t>
            </a:r>
            <a:r>
              <a:rPr dirty="0" err="1"/>
              <a:t>eszközök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315468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54864" cy="288036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7070"/>
                </a:solidFill>
                <a:latin typeface="Aptos"/>
              </a:defRPr>
            </a:pPr>
            <a:r>
              <a:rPr sz="2000" dirty="0"/>
              <a:t>02  Ütközésvizsgálat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50008"/>
            <a:ext cx="3044952" cy="172354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Melyik</a:t>
            </a:r>
            <a:r>
              <a:rPr sz="1600" dirty="0"/>
              <a:t> </a:t>
            </a:r>
            <a:r>
              <a:rPr sz="1600" dirty="0" err="1"/>
              <a:t>tranzakciós</a:t>
            </a:r>
            <a:r>
              <a:rPr sz="1600" dirty="0"/>
              <a:t>/</a:t>
            </a:r>
            <a:r>
              <a:rPr sz="1600" dirty="0" err="1"/>
              <a:t>zárolási</a:t>
            </a:r>
            <a:r>
              <a:rPr sz="1600" dirty="0"/>
              <a:t> </a:t>
            </a:r>
            <a:r>
              <a:rPr sz="1600" dirty="0" err="1"/>
              <a:t>stratégia</a:t>
            </a:r>
            <a:r>
              <a:rPr sz="1600" dirty="0"/>
              <a:t> </a:t>
            </a:r>
            <a:r>
              <a:rPr sz="1600" dirty="0" err="1"/>
              <a:t>működik</a:t>
            </a:r>
            <a:r>
              <a:rPr sz="1600" dirty="0"/>
              <a:t> </a:t>
            </a:r>
            <a:r>
              <a:rPr sz="1600" dirty="0" err="1"/>
              <a:t>jobban</a:t>
            </a:r>
            <a:r>
              <a:rPr sz="1600" dirty="0"/>
              <a:t> </a:t>
            </a:r>
            <a:r>
              <a:rPr sz="1600" dirty="0" err="1"/>
              <a:t>nagy</a:t>
            </a:r>
            <a:r>
              <a:rPr sz="1600" dirty="0"/>
              <a:t> </a:t>
            </a:r>
            <a:r>
              <a:rPr sz="1600" dirty="0" err="1"/>
              <a:t>konkurens</a:t>
            </a:r>
            <a:r>
              <a:rPr sz="1600" dirty="0"/>
              <a:t> </a:t>
            </a:r>
            <a:r>
              <a:rPr sz="1600" dirty="0" err="1"/>
              <a:t>terhelés</a:t>
            </a:r>
            <a:r>
              <a:rPr sz="1600" dirty="0"/>
              <a:t> </a:t>
            </a:r>
            <a:r>
              <a:rPr sz="1600" dirty="0" err="1"/>
              <a:t>mellett</a:t>
            </a:r>
            <a:r>
              <a:rPr sz="1600" dirty="0"/>
              <a:t>?</a:t>
            </a:r>
          </a:p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Vizsgálat</a:t>
            </a:r>
            <a:r>
              <a:rPr sz="1600" dirty="0"/>
              <a:t>: </a:t>
            </a:r>
            <a:r>
              <a:rPr sz="1600" dirty="0" err="1"/>
              <a:t>válaszidő</a:t>
            </a:r>
            <a:r>
              <a:rPr sz="1600" dirty="0"/>
              <a:t> </a:t>
            </a:r>
            <a:r>
              <a:rPr sz="1600" dirty="0" err="1"/>
              <a:t>és</a:t>
            </a:r>
            <a:r>
              <a:rPr sz="1600" dirty="0"/>
              <a:t> deadlock-</a:t>
            </a:r>
            <a:r>
              <a:rPr sz="1600" dirty="0" err="1"/>
              <a:t>kockázat</a:t>
            </a:r>
            <a:r>
              <a:rPr sz="16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3154680"/>
          </a:xfrm>
          <a:prstGeom prst="roundRect">
            <a:avLst/>
          </a:prstGeom>
          <a:solidFill>
            <a:srgbClr val="18273F"/>
          </a:solidFill>
          <a:ln w="12700">
            <a:solidFill>
              <a:srgbClr val="34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54864" cy="2880360"/>
          </a:xfrm>
          <a:prstGeom prst="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044952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58CADC"/>
                </a:solidFill>
                <a:latin typeface="Aptos"/>
              </a:defRPr>
            </a:pPr>
            <a:r>
              <a:rPr sz="2000" dirty="0"/>
              <a:t>03  Frontend </a:t>
            </a:r>
            <a:r>
              <a:rPr sz="2000" dirty="0" err="1"/>
              <a:t>terjedelme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247888" y="2350008"/>
            <a:ext cx="3044952" cy="172354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Mennyire</a:t>
            </a:r>
            <a:r>
              <a:rPr sz="1600" dirty="0"/>
              <a:t> </a:t>
            </a:r>
            <a:r>
              <a:rPr sz="1600" dirty="0" err="1"/>
              <a:t>legyen</a:t>
            </a:r>
            <a:r>
              <a:rPr sz="1600" dirty="0"/>
              <a:t> </a:t>
            </a:r>
            <a:r>
              <a:rPr sz="1600" dirty="0" err="1"/>
              <a:t>összetett</a:t>
            </a:r>
            <a:r>
              <a:rPr sz="1600" dirty="0"/>
              <a:t> a </a:t>
            </a:r>
            <a:r>
              <a:rPr sz="1600" dirty="0" err="1"/>
              <a:t>webes</a:t>
            </a:r>
            <a:r>
              <a:rPr sz="1600" dirty="0"/>
              <a:t> </a:t>
            </a:r>
            <a:r>
              <a:rPr sz="1600" dirty="0" err="1"/>
              <a:t>felület</a:t>
            </a:r>
            <a:r>
              <a:rPr sz="1600" dirty="0"/>
              <a:t>?</a:t>
            </a:r>
          </a:p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rPr sz="1600" dirty="0" err="1"/>
              <a:t>Irány</a:t>
            </a:r>
            <a:r>
              <a:rPr sz="1600" dirty="0"/>
              <a:t>: </a:t>
            </a:r>
            <a:r>
              <a:rPr sz="1600" dirty="0" err="1"/>
              <a:t>egyszerű</a:t>
            </a:r>
            <a:r>
              <a:rPr sz="1600" dirty="0"/>
              <a:t>, </a:t>
            </a:r>
            <a:r>
              <a:rPr sz="1600" dirty="0" err="1"/>
              <a:t>funkcionális</a:t>
            </a:r>
            <a:r>
              <a:rPr sz="1600" dirty="0"/>
              <a:t> UI, </a:t>
            </a:r>
            <a:r>
              <a:rPr sz="1600" dirty="0" err="1"/>
              <a:t>az</a:t>
            </a:r>
            <a:r>
              <a:rPr sz="1600" dirty="0"/>
              <a:t> </a:t>
            </a:r>
            <a:r>
              <a:rPr sz="1600" dirty="0" err="1"/>
              <a:t>adatbázis</a:t>
            </a:r>
            <a:r>
              <a:rPr sz="1600" dirty="0"/>
              <a:t> </a:t>
            </a:r>
            <a:r>
              <a:rPr sz="1600" dirty="0" err="1"/>
              <a:t>demonstrálására</a:t>
            </a:r>
            <a:r>
              <a:rPr sz="1600" dirty="0"/>
              <a:t> </a:t>
            </a:r>
            <a:r>
              <a:rPr sz="1600" dirty="0" err="1"/>
              <a:t>fókuszálva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Összefoglalás és következő lépések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0584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8813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EBED0"/>
                </a:solidFill>
                <a:latin typeface="Aptos"/>
              </a:defRPr>
            </a:pPr>
            <a:r>
              <a:rPr sz="1600" dirty="0"/>
              <a:t>A </a:t>
            </a:r>
            <a:r>
              <a:rPr sz="1600" dirty="0" err="1"/>
              <a:t>cél</a:t>
            </a:r>
            <a:r>
              <a:rPr sz="1600" dirty="0"/>
              <a:t> </a:t>
            </a:r>
            <a:r>
              <a:rPr sz="1600" dirty="0" err="1"/>
              <a:t>egy</a:t>
            </a:r>
            <a:r>
              <a:rPr sz="1600" dirty="0"/>
              <a:t> </a:t>
            </a:r>
            <a:r>
              <a:rPr sz="1600" dirty="0" err="1"/>
              <a:t>megbízható</a:t>
            </a:r>
            <a:r>
              <a:rPr sz="1600" dirty="0"/>
              <a:t>, </a:t>
            </a:r>
            <a:r>
              <a:rPr sz="1600" dirty="0" err="1"/>
              <a:t>adatbázis-központú</a:t>
            </a:r>
            <a:r>
              <a:rPr sz="1600" dirty="0"/>
              <a:t> </a:t>
            </a:r>
            <a:r>
              <a:rPr sz="1600" dirty="0" err="1"/>
              <a:t>parkolóház-kezelő</a:t>
            </a:r>
            <a:r>
              <a:rPr sz="1600" dirty="0"/>
              <a:t> </a:t>
            </a:r>
            <a:r>
              <a:rPr sz="1600" dirty="0" err="1"/>
              <a:t>rendszer</a:t>
            </a:r>
            <a:r>
              <a:rPr sz="16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AEBED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566928" cy="384048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5356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29260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rPr dirty="0" err="1"/>
              <a:t>Technológiai</a:t>
            </a:r>
            <a:r>
              <a:rPr dirty="0"/>
              <a:t> </a:t>
            </a:r>
            <a:r>
              <a:rPr dirty="0" err="1"/>
              <a:t>döntés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6126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/>
              <a:t>Oracle </a:t>
            </a:r>
            <a:r>
              <a:rPr dirty="0" err="1"/>
              <a:t>vagy</a:t>
            </a:r>
            <a:r>
              <a:rPr dirty="0"/>
              <a:t> SQL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32888"/>
            <a:ext cx="566928" cy="384048"/>
          </a:xfrm>
          <a:prstGeom prst="roundRect">
            <a:avLst/>
          </a:prstGeom>
          <a:solidFill>
            <a:srgbClr val="5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46604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87168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t>Adatmodell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6126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/>
              <a:t>Legalább 12 </a:t>
            </a:r>
            <a:r>
              <a:rPr dirty="0" err="1"/>
              <a:t>tábla</a:t>
            </a:r>
            <a:r>
              <a:rPr dirty="0"/>
              <a:t>, 3NF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74136"/>
            <a:ext cx="566928" cy="384048"/>
          </a:xfrm>
          <a:prstGeom prst="roundRect">
            <a:avLst/>
          </a:prstGeom>
          <a:solidFill>
            <a:srgbClr val="FFB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387852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328416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t>Üzleti logika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28416"/>
            <a:ext cx="6126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 err="1"/>
              <a:t>Eljárások</a:t>
            </a:r>
            <a:r>
              <a:rPr dirty="0"/>
              <a:t>, </a:t>
            </a:r>
            <a:r>
              <a:rPr dirty="0" err="1"/>
              <a:t>triggerek</a:t>
            </a:r>
            <a:r>
              <a:rPr dirty="0"/>
              <a:t>, </a:t>
            </a:r>
            <a:r>
              <a:rPr dirty="0" err="1"/>
              <a:t>megszorítások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14400" y="4215384"/>
            <a:ext cx="566928" cy="384048"/>
          </a:xfrm>
          <a:prstGeom prst="round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29100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69664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t>Webes felület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69664"/>
            <a:ext cx="6126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/>
              <a:t>Vékony </a:t>
            </a:r>
            <a:r>
              <a:rPr dirty="0" err="1"/>
              <a:t>szolgáltatásréteg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914400" y="5056632"/>
            <a:ext cx="566928" cy="384048"/>
          </a:xfrm>
          <a:prstGeom prst="roundRect">
            <a:avLst/>
          </a:prstGeom>
          <a:solidFill>
            <a:srgbClr val="64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070348"/>
            <a:ext cx="475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11D3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10912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t>Tesztelés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42916"/>
            <a:ext cx="6126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EBED0"/>
                </a:solidFill>
                <a:latin typeface="Aptos"/>
              </a:defRPr>
            </a:pPr>
            <a:r>
              <a:rPr dirty="0" err="1"/>
              <a:t>Konkurencia</a:t>
            </a:r>
            <a:r>
              <a:rPr dirty="0"/>
              <a:t>, </a:t>
            </a:r>
            <a:r>
              <a:rPr dirty="0" err="1"/>
              <a:t>teljesítmény</a:t>
            </a:r>
            <a:r>
              <a:rPr dirty="0"/>
              <a:t>, </a:t>
            </a:r>
            <a:r>
              <a:rPr dirty="0" err="1"/>
              <a:t>integritás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332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23BEAA"/>
                </a:solidFill>
                <a:latin typeface="Aptos"/>
              </a:defRPr>
            </a:pPr>
            <a:r>
              <a:t>A siker kulcsa: adatkonzisztencia, biztonságos tranzakciók és mérhető teljesítmény.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Szélesvásznú</PresentationFormat>
  <Paragraphs>188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Okos parkolóház-kezelő rendszer</dc:title>
  <dc:subject>Projektterv bemutatása</dc:subject>
  <dc:creator>OpenAI</dc:creator>
  <cp:keywords>okos parkolóház, adatbázis, foglalás, tranzakciókezelés</cp:keywords>
  <dc:description>generated using python-pptx</dc:description>
  <cp:lastModifiedBy>Lúcia Bata</cp:lastModifiedBy>
  <cp:revision>3</cp:revision>
  <dcterms:created xsi:type="dcterms:W3CDTF">2013-01-27T09:14:16Z</dcterms:created>
  <dcterms:modified xsi:type="dcterms:W3CDTF">2026-10-19T18:31:17Z</dcterms:modified>
  <cp:category/>
</cp:coreProperties>
</file>